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3" r:id="rId6"/>
    <p:sldId id="264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FFFF"/>
    <a:srgbClr val="27272B"/>
    <a:srgbClr val="FBFB00"/>
    <a:srgbClr val="000000"/>
    <a:srgbClr val="0A0E27"/>
    <a:srgbClr val="00E807"/>
    <a:srgbClr val="27272A"/>
    <a:srgbClr val="001A4D"/>
    <a:srgbClr val="002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05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84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hpic.su/ru/stickers/EdgerunnersMeme/008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30" y="-2448643"/>
            <a:ext cx="5679811" cy="85197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630" y="3965469"/>
            <a:ext cx="7089570" cy="308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 b="1" dirty="0" err="1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Государственное</a:t>
            </a:r>
            <a:r>
              <a:rPr lang="ru-RU" sz="2400" b="1" dirty="0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бюджетное</a:t>
            </a:r>
            <a:r>
              <a:rPr lang="en-US" sz="2400" b="1" dirty="0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 профессиональное образовательное учреждение г. Москвы </a:t>
            </a:r>
            <a:r>
              <a:rPr lang="en-US" sz="2400" b="1" dirty="0">
                <a:solidFill>
                  <a:srgbClr val="00E807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«</a:t>
            </a:r>
            <a:r>
              <a:rPr lang="en-US" sz="2400" b="1" dirty="0" err="1">
                <a:solidFill>
                  <a:srgbClr val="00FFFF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Колледж</a:t>
            </a:r>
            <a:r>
              <a:rPr lang="ru-RU" sz="2400" b="1" dirty="0">
                <a:solidFill>
                  <a:srgbClr val="00E807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 </a:t>
            </a:r>
            <a:r>
              <a:rPr lang="en-US" sz="2400" b="1" dirty="0" err="1">
                <a:solidFill>
                  <a:srgbClr val="0070C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Связи</a:t>
            </a:r>
            <a:r>
              <a:rPr lang="en-US" sz="2400" b="1" dirty="0">
                <a:solidFill>
                  <a:srgbClr val="00E807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 </a:t>
            </a:r>
            <a:r>
              <a:rPr lang="en-US" sz="2400" b="1" dirty="0">
                <a:solidFill>
                  <a:srgbClr val="FE7703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№54</a:t>
            </a:r>
            <a:r>
              <a:rPr lang="en-US" sz="2400" b="1" dirty="0">
                <a:solidFill>
                  <a:srgbClr val="00E807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» </a:t>
            </a:r>
            <a:r>
              <a:rPr lang="en-US" sz="2400" b="1" dirty="0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им. П.М. Вострухина</a:t>
            </a:r>
            <a:endParaRPr lang="en-US" sz="2400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8475961" y="1439379"/>
            <a:ext cx="3738688" cy="6049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5400" dirty="0">
                <a:solidFill>
                  <a:srgbClr val="00FFFF"/>
                </a:solidFill>
              </a:rPr>
              <a:t>SAMURAI</a:t>
            </a:r>
            <a:endParaRPr lang="en-US" sz="5400" dirty="0">
              <a:latin typeface="+mj-lt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96350" y="2148012"/>
            <a:ext cx="2368153" cy="3053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600" b="1" dirty="0" err="1">
                <a:solidFill>
                  <a:srgbClr val="00FFFF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Автор</a:t>
            </a:r>
            <a:endParaRPr lang="en-US" sz="3600" dirty="0">
              <a:latin typeface="+mj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7596350" y="2557102"/>
            <a:ext cx="4174006" cy="13301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 err="1">
                <a:solidFill>
                  <a:srgbClr val="FFFF00"/>
                </a:solidFill>
                <a:ea typeface="Raleway Medium" pitchFamily="34" charset="-122"/>
                <a:cs typeface="Raleway Medium" pitchFamily="34" charset="-120"/>
              </a:rPr>
              <a:t>Филимонов</a:t>
            </a:r>
            <a:r>
              <a:rPr lang="en-US" sz="2800" dirty="0">
                <a:solidFill>
                  <a:srgbClr val="FFFF00"/>
                </a:solidFill>
                <a:ea typeface="Raleway Medium" pitchFamily="34" charset="-122"/>
                <a:cs typeface="Raleway Medium" pitchFamily="34" charset="-120"/>
              </a:rPr>
              <a:t> Александр</a:t>
            </a:r>
            <a:r>
              <a:rPr lang="ru-RU" sz="2800" dirty="0">
                <a:solidFill>
                  <a:srgbClr val="FFFF00"/>
                </a:solidFill>
                <a:ea typeface="Raleway Medium" pitchFamily="34" charset="-122"/>
                <a:cs typeface="Raleway Medium" pitchFamily="34" charset="-120"/>
              </a:rPr>
              <a:t> Дмитриевич</a:t>
            </a:r>
            <a:r>
              <a:rPr lang="en-US" sz="2800" dirty="0">
                <a:solidFill>
                  <a:srgbClr val="FFFF00"/>
                </a:solidFill>
                <a:ea typeface="Raleway Medium" pitchFamily="34" charset="-122"/>
                <a:cs typeface="Raleway Medium" pitchFamily="34" charset="-120"/>
              </a:rPr>
              <a:t> </a:t>
            </a:r>
            <a:endParaRPr lang="ru-RU" sz="2800" dirty="0">
              <a:solidFill>
                <a:srgbClr val="FFFF00"/>
              </a:solidFill>
              <a:ea typeface="Raleway Medium" pitchFamily="34" charset="-122"/>
              <a:cs typeface="Raleway Medium" pitchFamily="34" charset="-120"/>
            </a:endParaRPr>
          </a:p>
          <a:p>
            <a:pPr marL="0" indent="0" algn="l">
              <a:lnSpc>
                <a:spcPts val="2600"/>
              </a:lnSpc>
              <a:buNone/>
            </a:pPr>
            <a:r>
              <a:rPr lang="ru-RU" sz="2800" dirty="0">
                <a:solidFill>
                  <a:srgbClr val="00FFFF"/>
                </a:solidFill>
                <a:ea typeface="Raleway Medium" pitchFamily="34" charset="-122"/>
                <a:cs typeface="Raleway Medium" pitchFamily="34" charset="-120"/>
              </a:rPr>
              <a:t>Г</a:t>
            </a:r>
            <a:r>
              <a:rPr lang="en-US" sz="2800" dirty="0" err="1">
                <a:solidFill>
                  <a:srgbClr val="00FFFF"/>
                </a:solidFill>
                <a:ea typeface="Raleway Medium" pitchFamily="34" charset="-122"/>
                <a:cs typeface="Raleway Medium" pitchFamily="34" charset="-120"/>
              </a:rPr>
              <a:t>руппа</a:t>
            </a:r>
            <a:r>
              <a:rPr lang="en-US" sz="2800" dirty="0">
                <a:solidFill>
                  <a:srgbClr val="00FFFF"/>
                </a:solidFill>
                <a:ea typeface="Raleway Medium" pitchFamily="34" charset="-122"/>
                <a:cs typeface="Raleway Medium" pitchFamily="34" charset="-120"/>
              </a:rPr>
              <a:t> 1-ИСП9-77</a:t>
            </a:r>
            <a:endParaRPr lang="en-US" sz="2800" dirty="0">
              <a:solidFill>
                <a:srgbClr val="00FFFF"/>
              </a:solidFill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2523973" y="7707392"/>
            <a:ext cx="1991147" cy="4572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35A437-1B64-44DB-B4A3-B7E938F5D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588" y="3887268"/>
            <a:ext cx="3955948" cy="3955948"/>
          </a:xfrm>
          <a:prstGeom prst="rect">
            <a:avLst/>
          </a:prstGeom>
          <a:solidFill>
            <a:srgbClr val="000000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400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/>
      <p:bldP spid="6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1600" y="179308"/>
            <a:ext cx="5486400" cy="685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ru-RU" sz="4300" b="1" dirty="0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Состав команды</a:t>
            </a:r>
            <a:endParaRPr lang="en-US" sz="4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933093" y="2596753"/>
            <a:ext cx="6011942" cy="2370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666280" y="6263283"/>
            <a:ext cx="11853267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2523973" y="7707392"/>
            <a:ext cx="1991147" cy="4572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10">
            <a:extLst>
              <a:ext uri="{FF2B5EF4-FFF2-40B4-BE49-F238E27FC236}">
                <a16:creationId xmlns:a16="http://schemas.microsoft.com/office/drawing/2014/main" id="{7452E1D9-D03A-4FA9-AEFC-992CD066C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847367"/>
              </p:ext>
            </p:extLst>
          </p:nvPr>
        </p:nvGraphicFramePr>
        <p:xfrm>
          <a:off x="1295400" y="1113527"/>
          <a:ext cx="12229590" cy="6593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614">
                  <a:extLst>
                    <a:ext uri="{9D8B030D-6E8A-4147-A177-3AD203B41FA5}">
                      <a16:colId xmlns:a16="http://schemas.microsoft.com/office/drawing/2014/main" val="1536576539"/>
                    </a:ext>
                  </a:extLst>
                </a:gridCol>
                <a:gridCol w="4294490">
                  <a:extLst>
                    <a:ext uri="{9D8B030D-6E8A-4147-A177-3AD203B41FA5}">
                      <a16:colId xmlns:a16="http://schemas.microsoft.com/office/drawing/2014/main" val="859019970"/>
                    </a:ext>
                  </a:extLst>
                </a:gridCol>
                <a:gridCol w="3635882">
                  <a:extLst>
                    <a:ext uri="{9D8B030D-6E8A-4147-A177-3AD203B41FA5}">
                      <a16:colId xmlns:a16="http://schemas.microsoft.com/office/drawing/2014/main" val="3872413109"/>
                    </a:ext>
                  </a:extLst>
                </a:gridCol>
                <a:gridCol w="3112604">
                  <a:extLst>
                    <a:ext uri="{9D8B030D-6E8A-4147-A177-3AD203B41FA5}">
                      <a16:colId xmlns:a16="http://schemas.microsoft.com/office/drawing/2014/main" val="3442081522"/>
                    </a:ext>
                  </a:extLst>
                </a:gridCol>
              </a:tblGrid>
              <a:tr h="728255">
                <a:tc>
                  <a:txBody>
                    <a:bodyPr/>
                    <a:lstStyle/>
                    <a:p>
                      <a:r>
                        <a:rPr lang="ru-RU" sz="4400" dirty="0">
                          <a:solidFill>
                            <a:srgbClr val="FFFF00"/>
                          </a:solidFill>
                        </a:rPr>
                        <a:t>№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4400" dirty="0">
                          <a:solidFill>
                            <a:srgbClr val="FFFF00"/>
                          </a:solidFill>
                        </a:rPr>
                        <a:t>ФИО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4400" dirty="0">
                          <a:solidFill>
                            <a:srgbClr val="FFFF00"/>
                          </a:solidFill>
                        </a:rPr>
                        <a:t>Роль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3600" dirty="0" err="1">
                          <a:solidFill>
                            <a:srgbClr val="FFFF00"/>
                          </a:solidFill>
                        </a:rPr>
                        <a:t>Обязоности</a:t>
                      </a:r>
                      <a:endParaRPr lang="ru-RU" sz="36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770115"/>
                  </a:ext>
                </a:extLst>
              </a:tr>
              <a:tr h="1076985">
                <a:tc>
                  <a:txBody>
                    <a:bodyPr/>
                    <a:lstStyle/>
                    <a:p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Филимонов А.Д.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Руководитель проекта</a:t>
                      </a:r>
                      <a:endParaRPr lang="ru-RU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Координация работы команды, контроль сроков, коммуникация с куратором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411304"/>
                  </a:ext>
                </a:extLst>
              </a:tr>
              <a:tr h="1136077">
                <a:tc>
                  <a:txBody>
                    <a:bodyPr/>
                    <a:lstStyle/>
                    <a:p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Филимонов А.Д.</a:t>
                      </a:r>
                    </a:p>
                    <a:p>
                      <a:endParaRPr lang="ru-RU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Консультант</a:t>
                      </a:r>
                      <a:endParaRPr lang="ru-RU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Общение с пользователями, консультации, ведение журнала обращений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32506"/>
                  </a:ext>
                </a:extLst>
              </a:tr>
              <a:tr h="1136077">
                <a:tc>
                  <a:txBody>
                    <a:bodyPr/>
                    <a:lstStyle/>
                    <a:p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Филимонов А.Д.</a:t>
                      </a:r>
                    </a:p>
                    <a:p>
                      <a:endParaRPr lang="ru-RU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Специалист по безопасности</a:t>
                      </a:r>
                      <a:endParaRPr lang="ru-RU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Анализ угроз, разработка инструкций по безопасности, проверка решений на безопасность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74548"/>
                  </a:ext>
                </a:extLst>
              </a:tr>
              <a:tr h="1136077">
                <a:tc>
                  <a:txBody>
                    <a:bodyPr/>
                    <a:lstStyle/>
                    <a:p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Филимонов А.Д.</a:t>
                      </a:r>
                    </a:p>
                    <a:p>
                      <a:endParaRPr lang="ru-RU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Технический специалист</a:t>
                      </a:r>
                      <a:endParaRPr lang="ru-RU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Решение технических проблем, настройка инструментов, помощь в решении кейсов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778861"/>
                  </a:ext>
                </a:extLst>
              </a:tr>
              <a:tr h="1136077">
                <a:tc>
                  <a:txBody>
                    <a:bodyPr/>
                    <a:lstStyle/>
                    <a:p>
                      <a:r>
                        <a:rPr lang="ru-RU" sz="44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solidFill>
                            <a:schemeClr val="bg1"/>
                          </a:solidFill>
                        </a:rPr>
                        <a:t>Филимонов А.Д.</a:t>
                      </a:r>
                    </a:p>
                    <a:p>
                      <a:endParaRPr lang="ru-RU" sz="3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Документатор</a:t>
                      </a:r>
                      <a:endParaRPr lang="ru-RU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Ведение документации, оформление отчётов, структурирование материалов в репозитории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86834"/>
                  </a:ext>
                </a:extLst>
              </a:tr>
            </a:tbl>
          </a:graphicData>
        </a:graphic>
      </p:graphicFrame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4E32F5D-0184-47A2-BC36-06855304DDA0}"/>
              </a:ext>
            </a:extLst>
          </p:cNvPr>
          <p:cNvSpPr/>
          <p:nvPr/>
        </p:nvSpPr>
        <p:spPr>
          <a:xfrm>
            <a:off x="609600" y="1014959"/>
            <a:ext cx="13612586" cy="6885481"/>
          </a:xfrm>
          <a:prstGeom prst="roundRect">
            <a:avLst/>
          </a:prstGeom>
          <a:noFill/>
          <a:ln w="76200">
            <a:solidFill>
              <a:srgbClr val="00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соседними углами 20"/>
          <p:cNvSpPr/>
          <p:nvPr/>
        </p:nvSpPr>
        <p:spPr>
          <a:xfrm rot="10800000">
            <a:off x="987623" y="2112651"/>
            <a:ext cx="6185059" cy="374570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90E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Shape 3"/>
          <p:cNvSpPr/>
          <p:nvPr/>
        </p:nvSpPr>
        <p:spPr>
          <a:xfrm>
            <a:off x="987622" y="2118955"/>
            <a:ext cx="6242806" cy="91440"/>
          </a:xfrm>
          <a:prstGeom prst="roundRect">
            <a:avLst>
              <a:gd name="adj" fmla="val 335391"/>
            </a:avLst>
          </a:prstGeom>
          <a:solidFill>
            <a:srgbClr val="FFE14D"/>
          </a:solidFill>
        </p:spPr>
      </p:sp>
      <p:sp>
        <p:nvSpPr>
          <p:cNvPr id="6" name="Shape 4"/>
          <p:cNvSpPr/>
          <p:nvPr/>
        </p:nvSpPr>
        <p:spPr>
          <a:xfrm>
            <a:off x="3831134" y="1835229"/>
            <a:ext cx="613291" cy="613291"/>
          </a:xfrm>
          <a:prstGeom prst="roundRect">
            <a:avLst>
              <a:gd name="adj" fmla="val 149097"/>
            </a:avLst>
          </a:prstGeom>
          <a:solidFill>
            <a:srgbClr val="FFE14D"/>
          </a:solidFill>
        </p:spPr>
      </p:sp>
      <p:sp>
        <p:nvSpPr>
          <p:cNvPr id="7" name="Text 5"/>
          <p:cNvSpPr/>
          <p:nvPr/>
        </p:nvSpPr>
        <p:spPr>
          <a:xfrm>
            <a:off x="4015085" y="1988582"/>
            <a:ext cx="245269" cy="3065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9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72540" y="2652951"/>
            <a:ext cx="2271713" cy="2839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ru-RU" b="1" dirty="0">
                <a:solidFill>
                  <a:srgbClr val="00FFFF"/>
                </a:solidFill>
              </a:rPr>
              <a:t>Проблема</a:t>
            </a:r>
            <a:endParaRPr lang="en-US" sz="1750" dirty="0">
              <a:solidFill>
                <a:srgbClr val="00FFFF"/>
              </a:solidFill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72540" y="3038475"/>
            <a:ext cx="5730597" cy="5979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ru-RU" dirty="0">
                <a:solidFill>
                  <a:schemeClr val="bg1"/>
                </a:solidFill>
              </a:rPr>
              <a:t>пользователь (пенсионер) не может авторизоваться на портале Госуслуг. Система выдаёт ошибку «Неверный логин или пароль», хотя пользователь уверен, что вводит данные правильно.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Прямоугольник с двумя скругленными соседними углами 21"/>
          <p:cNvSpPr/>
          <p:nvPr/>
        </p:nvSpPr>
        <p:spPr>
          <a:xfrm rot="10800000">
            <a:off x="7399611" y="2118952"/>
            <a:ext cx="6185059" cy="374570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90E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7399734" y="2118955"/>
            <a:ext cx="6185297" cy="91440"/>
          </a:xfrm>
          <a:prstGeom prst="roundRect">
            <a:avLst>
              <a:gd name="adj" fmla="val 335391"/>
            </a:avLst>
          </a:prstGeom>
          <a:solidFill>
            <a:srgbClr val="FFE14D"/>
          </a:solidFill>
        </p:spPr>
      </p:sp>
      <p:sp>
        <p:nvSpPr>
          <p:cNvPr id="12" name="Shape 10"/>
          <p:cNvSpPr/>
          <p:nvPr/>
        </p:nvSpPr>
        <p:spPr>
          <a:xfrm>
            <a:off x="10185737" y="1835229"/>
            <a:ext cx="613291" cy="613291"/>
          </a:xfrm>
          <a:prstGeom prst="roundRect">
            <a:avLst>
              <a:gd name="adj" fmla="val 149097"/>
            </a:avLst>
          </a:prstGeom>
          <a:solidFill>
            <a:srgbClr val="FFE14D"/>
          </a:solidFill>
        </p:spPr>
      </p:sp>
      <p:sp>
        <p:nvSpPr>
          <p:cNvPr id="13" name="Text 11"/>
          <p:cNvSpPr/>
          <p:nvPr/>
        </p:nvSpPr>
        <p:spPr>
          <a:xfrm>
            <a:off x="10369689" y="1988582"/>
            <a:ext cx="245269" cy="3065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9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7025" y="2652951"/>
            <a:ext cx="2271713" cy="2839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ru-RU" b="1" dirty="0">
                <a:solidFill>
                  <a:srgbClr val="00FFFF"/>
                </a:solidFill>
              </a:rPr>
              <a:t>Ключевые детали</a:t>
            </a:r>
            <a:r>
              <a:rPr lang="ru-RU" b="1" dirty="0"/>
              <a:t>:</a:t>
            </a:r>
            <a:endParaRPr lang="en-US" sz="175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7025" y="3038475"/>
            <a:ext cx="5730716" cy="2927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50"/>
              </a:lnSpc>
              <a:buSzPct val="100000"/>
              <a:buFontTx/>
              <a:buChar char="•"/>
            </a:pPr>
            <a:r>
              <a:rPr lang="ru-RU" dirty="0">
                <a:solidFill>
                  <a:srgbClr val="FFFF00"/>
                </a:solidFill>
              </a:rPr>
              <a:t>возраст пользователя — </a:t>
            </a:r>
            <a:r>
              <a:rPr lang="ru-RU" dirty="0">
                <a:solidFill>
                  <a:schemeClr val="bg1"/>
                </a:solidFill>
              </a:rPr>
              <a:t>68 лет;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350"/>
              </a:lnSpc>
              <a:buSzPct val="100000"/>
              <a:buFontTx/>
              <a:buChar char="•"/>
            </a:pPr>
            <a:r>
              <a:rPr lang="ru-RU" dirty="0">
                <a:solidFill>
                  <a:srgbClr val="FFFF00"/>
                </a:solidFill>
              </a:rPr>
              <a:t>опыт работы с цифровыми сервисами — </a:t>
            </a:r>
            <a:r>
              <a:rPr lang="ru-RU" dirty="0">
                <a:solidFill>
                  <a:schemeClr val="bg1"/>
                </a:solidFill>
              </a:rPr>
              <a:t>минимальный;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350"/>
              </a:lnSpc>
              <a:buSzPct val="100000"/>
              <a:buChar char="•"/>
            </a:pPr>
            <a:r>
              <a:rPr lang="ru-RU" dirty="0">
                <a:solidFill>
                  <a:srgbClr val="FFFF00"/>
                </a:solidFill>
              </a:rPr>
              <a:t>устройство — </a:t>
            </a:r>
            <a:r>
              <a:rPr lang="ru-RU" dirty="0">
                <a:solidFill>
                  <a:schemeClr val="bg1"/>
                </a:solidFill>
              </a:rPr>
              <a:t>стационарный компьютер с </a:t>
            </a:r>
            <a:r>
              <a:rPr lang="ru-RU" dirty="0" err="1">
                <a:solidFill>
                  <a:schemeClr val="bg1"/>
                </a:solidFill>
              </a:rPr>
              <a:t>Window</a:t>
            </a:r>
            <a:r>
              <a:rPr lang="en-US" sz="1600" dirty="0" err="1">
                <a:solidFill>
                  <a:schemeClr val="bg1"/>
                </a:solidFill>
                <a:ea typeface="Raleway Medium" pitchFamily="34" charset="-122"/>
                <a:cs typeface="Raleway Medium" pitchFamily="34" charset="-120"/>
              </a:rPr>
              <a:t>Создать</a:t>
            </a:r>
            <a:endParaRPr lang="ru-RU" sz="1600" dirty="0">
              <a:solidFill>
                <a:schemeClr val="bg1"/>
              </a:solidFill>
              <a:ea typeface="Raleway Medium" pitchFamily="34" charset="-122"/>
              <a:cs typeface="Raleway Medium" pitchFamily="34" charset="-120"/>
            </a:endParaRPr>
          </a:p>
          <a:p>
            <a:pPr marL="342900" indent="-342900">
              <a:lnSpc>
                <a:spcPts val="23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FFFF00"/>
                </a:solidFill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ru-RU" dirty="0">
                <a:solidFill>
                  <a:srgbClr val="FFFF00"/>
                </a:solidFill>
              </a:rPr>
              <a:t>браузер — </a:t>
            </a:r>
            <a:r>
              <a:rPr lang="ru-RU" dirty="0">
                <a:solidFill>
                  <a:schemeClr val="bg1"/>
                </a:solidFill>
              </a:rPr>
              <a:t>Яндекс Браузер последней версии;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ts val="2350"/>
              </a:lnSpc>
              <a:buSzPct val="100000"/>
              <a:buFontTx/>
              <a:buChar char="•"/>
            </a:pPr>
            <a:r>
              <a:rPr lang="ru-RU" dirty="0">
                <a:solidFill>
                  <a:srgbClr val="FFFF00"/>
                </a:solidFill>
              </a:rPr>
              <a:t>проблема возникла впервые</a:t>
            </a:r>
            <a:r>
              <a:rPr lang="ru-RU" dirty="0">
                <a:solidFill>
                  <a:schemeClr val="bg1"/>
                </a:solidFill>
              </a:rPr>
              <a:t>, ранее вход выполнялся успешно.</a:t>
            </a:r>
          </a:p>
        </p:txBody>
      </p:sp>
      <p:sp>
        <p:nvSpPr>
          <p:cNvPr id="2" name="Text 0"/>
          <p:cNvSpPr/>
          <p:nvPr/>
        </p:nvSpPr>
        <p:spPr>
          <a:xfrm>
            <a:off x="1045250" y="620911"/>
            <a:ext cx="5898594" cy="5679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ru-RU" sz="3550" b="1" dirty="0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Описание кейса</a:t>
            </a:r>
            <a:endParaRPr lang="en-US" sz="355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45250" y="1578531"/>
            <a:ext cx="12539782" cy="15240"/>
          </a:xfrm>
          <a:prstGeom prst="rect">
            <a:avLst/>
          </a:prstGeom>
          <a:solidFill>
            <a:srgbClr val="D7D4CC">
              <a:alpha val="5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1045250" y="6383536"/>
            <a:ext cx="12539782" cy="1225034"/>
          </a:xfrm>
          <a:prstGeom prst="roundRect">
            <a:avLst>
              <a:gd name="adj" fmla="val 25035"/>
            </a:avLst>
          </a:prstGeom>
          <a:solidFill>
            <a:srgbClr val="022349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6681073"/>
            <a:ext cx="255508" cy="20443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09737" y="6681073"/>
            <a:ext cx="11670983" cy="2989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ru-RU" b="1" dirty="0">
                <a:solidFill>
                  <a:srgbClr val="FBFB00"/>
                </a:solidFill>
              </a:rPr>
              <a:t>Цель решения:</a:t>
            </a:r>
            <a:r>
              <a:rPr lang="ru-RU" dirty="0">
                <a:solidFill>
                  <a:schemeClr val="bg1"/>
                </a:solidFill>
              </a:rPr>
              <a:t> восстановить доступ к учётной записи и обеспечить возможность пользоваться госуслугами онлайн.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2523973" y="7707392"/>
            <a:ext cx="1991147" cy="4572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6448" y="-144277"/>
            <a:ext cx="3598223" cy="173042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360" y="4029546"/>
            <a:ext cx="3252668" cy="18288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15"/>
          <p:cNvSpPr/>
          <p:nvPr/>
        </p:nvSpPr>
        <p:spPr>
          <a:xfrm>
            <a:off x="12523973" y="7707392"/>
            <a:ext cx="1991147" cy="4572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589378" y="6011286"/>
            <a:ext cx="12831982" cy="158208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09870" y="6187440"/>
            <a:ext cx="12586058" cy="1229774"/>
          </a:xfrm>
          <a:prstGeom prst="roundRect">
            <a:avLst/>
          </a:prstGeom>
          <a:solidFill>
            <a:srgbClr val="0A0E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927021" y="609838"/>
            <a:ext cx="10757892" cy="578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Р</a:t>
            </a:r>
            <a:r>
              <a:rPr lang="ru-RU" sz="3600" b="1" dirty="0" err="1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ещение</a:t>
            </a:r>
            <a:r>
              <a:rPr lang="ru-RU" sz="3600" b="1" dirty="0">
                <a:solidFill>
                  <a:srgbClr val="FFFF00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 проблемы</a:t>
            </a:r>
            <a:endParaRPr lang="en-US" sz="36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4502" y="1452086"/>
            <a:ext cx="6434138" cy="4220170"/>
          </a:xfrm>
          <a:prstGeom prst="roundRect">
            <a:avLst>
              <a:gd name="adj" fmla="val 11847"/>
            </a:avLst>
          </a:prstGeom>
          <a:solidFill>
            <a:srgbClr val="0A0E27"/>
          </a:solidFill>
        </p:spPr>
        <p:txBody>
          <a:bodyPr/>
          <a:lstStyle/>
          <a:p>
            <a:r>
              <a:rPr lang="ru-RU" dirty="0">
                <a:hlinkClick r:id="rId3" tooltip="Стикер 🚀 Edgerunners Meme 🌒"/>
              </a:rPr>
              <a:t> </a:t>
            </a:r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985242" y="1603950"/>
            <a:ext cx="6017657" cy="39081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ru-RU" b="1" dirty="0">
                <a:solidFill>
                  <a:srgbClr val="00FFFF"/>
                </a:solidFill>
              </a:rPr>
              <a:t>Проверка базовых параметров:</a:t>
            </a:r>
            <a:endParaRPr lang="ru-RU" dirty="0">
              <a:solidFill>
                <a:srgbClr val="00FFFF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интернет‑соединение;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правильность раскладки клавиатуры (RU/EN);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состояние клавиши </a:t>
            </a:r>
            <a:r>
              <a:rPr lang="ru-RU" dirty="0" err="1">
                <a:solidFill>
                  <a:schemeClr val="bg1"/>
                </a:solidFill>
              </a:rPr>
              <a:t>Caps</a:t>
            </a:r>
            <a:r>
              <a:rPr lang="ru-RU" dirty="0">
                <a:solidFill>
                  <a:schemeClr val="bg1"/>
                </a:solidFill>
              </a:rPr>
              <a:t> </a:t>
            </a:r>
            <a:r>
              <a:rPr lang="ru-RU" dirty="0" err="1">
                <a:solidFill>
                  <a:schemeClr val="bg1"/>
                </a:solidFill>
              </a:rPr>
              <a:t>Lock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r>
              <a:rPr lang="ru-RU" b="1" dirty="0">
                <a:solidFill>
                  <a:srgbClr val="00FFFF"/>
                </a:solidFill>
              </a:rPr>
              <a:t>Сброс пароля через функцию восстановления:</a:t>
            </a:r>
            <a:endParaRPr lang="ru-RU" dirty="0">
              <a:solidFill>
                <a:srgbClr val="00FFFF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нажать «Забыли пароль?» на странице входа;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выбрать способ подтверждения личности (телефон/почта);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ввести код подтверждения.</a:t>
            </a:r>
          </a:p>
          <a:p>
            <a:r>
              <a:rPr lang="ru-RU" b="1" dirty="0">
                <a:solidFill>
                  <a:srgbClr val="00FFFF"/>
                </a:solidFill>
              </a:rPr>
              <a:t>Создание нового надёжного пароля:</a:t>
            </a:r>
            <a:endParaRPr lang="ru-RU" dirty="0">
              <a:solidFill>
                <a:srgbClr val="00FFFF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длина не менее 12 символов;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комбинация букв, цифр и спецсимволов;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не использовать очевидные данные (даты, имена).</a:t>
            </a:r>
          </a:p>
        </p:txBody>
      </p:sp>
      <p:sp>
        <p:nvSpPr>
          <p:cNvPr id="6" name="Shape 4"/>
          <p:cNvSpPr/>
          <p:nvPr/>
        </p:nvSpPr>
        <p:spPr>
          <a:xfrm>
            <a:off x="7426881" y="1452086"/>
            <a:ext cx="6434138" cy="4220170"/>
          </a:xfrm>
          <a:prstGeom prst="roundRect">
            <a:avLst>
              <a:gd name="adj" fmla="val 11847"/>
            </a:avLst>
          </a:prstGeom>
          <a:solidFill>
            <a:srgbClr val="000000"/>
          </a:solidFill>
        </p:spPr>
        <p:txBody>
          <a:bodyPr/>
          <a:lstStyle/>
          <a:p>
            <a:r>
              <a:rPr lang="ru-RU" b="1" dirty="0">
                <a:solidFill>
                  <a:srgbClr val="00FFFF"/>
                </a:solidFill>
              </a:rPr>
              <a:t>Вход с новыми данными:</a:t>
            </a:r>
            <a:endParaRPr lang="ru-RU" dirty="0">
              <a:solidFill>
                <a:srgbClr val="00FFFF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ввод логина (СНИЛС/телефон/</a:t>
            </a:r>
            <a:r>
              <a:rPr lang="ru-RU" dirty="0" err="1">
                <a:solidFill>
                  <a:schemeClr val="bg1"/>
                </a:solidFill>
              </a:rPr>
              <a:t>email</a:t>
            </a:r>
            <a:r>
              <a:rPr lang="ru-RU" dirty="0">
                <a:solidFill>
                  <a:schemeClr val="bg1"/>
                </a:solidFill>
              </a:rPr>
              <a:t>);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ввод нового пароля.</a:t>
            </a:r>
          </a:p>
          <a:p>
            <a:r>
              <a:rPr lang="ru-RU" b="1" dirty="0">
                <a:solidFill>
                  <a:srgbClr val="00FFFF"/>
                </a:solidFill>
              </a:rPr>
              <a:t>Настройка дополнительных мер безопасности:</a:t>
            </a:r>
            <a:endParaRPr lang="ru-RU" dirty="0">
              <a:solidFill>
                <a:srgbClr val="00FFFF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включение двухфакторной аутентификации;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сохранение контактов службы поддержки Госуслуг.</a:t>
            </a:r>
          </a:p>
          <a:p>
            <a:endParaRPr lang="ru-RU" dirty="0"/>
          </a:p>
        </p:txBody>
      </p:sp>
      <p:sp>
        <p:nvSpPr>
          <p:cNvPr id="10" name="Text 6"/>
          <p:cNvSpPr/>
          <p:nvPr/>
        </p:nvSpPr>
        <p:spPr>
          <a:xfrm>
            <a:off x="927021" y="6268341"/>
            <a:ext cx="2314575" cy="289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FFFF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Компоненты</a:t>
            </a:r>
            <a:endParaRPr lang="en-US" sz="1800" dirty="0">
              <a:latin typeface="+mj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27140" y="6787990"/>
            <a:ext cx="6278285" cy="6146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GridLayoutGroup для сетки, Button для плиток, AudioSource для звуков.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424976" y="6268341"/>
            <a:ext cx="2314575" cy="289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FFFF"/>
                </a:solidFill>
                <a:latin typeface="+mj-lt"/>
                <a:ea typeface="Comfortaa Bold" pitchFamily="34" charset="-122"/>
                <a:cs typeface="Comfortaa Bold" pitchFamily="34" charset="-120"/>
              </a:rPr>
              <a:t>Логика</a:t>
            </a:r>
            <a:endParaRPr lang="en-US" sz="1800" dirty="0">
              <a:latin typeface="+mj-lt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424976" y="6777514"/>
            <a:ext cx="6278404" cy="6146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7D4CC"/>
                </a:solidFill>
                <a:ea typeface="Raleway Medium" pitchFamily="34" charset="-122"/>
                <a:cs typeface="Raleway Medium" pitchFamily="34" charset="-120"/>
              </a:rPr>
              <a:t>Генерация поля, ShuffleBoard(), TryMove(), CheckWinCondition().</a:t>
            </a:r>
            <a:endParaRPr lang="en-US" sz="16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CFCEB32-66E3-4B9B-9A8A-97BE92DB3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2087" y="3187528"/>
            <a:ext cx="2783071" cy="2783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" grpId="0" animBg="1"/>
      <p:bldP spid="2" grpId="0" animBg="1"/>
      <p:bldP spid="3" grpId="0" animBg="1"/>
      <p:bldP spid="4" grpId="0"/>
      <p:bldP spid="10" grpId="0"/>
      <p:bldP spid="11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53904"/>
            <a:ext cx="5486400" cy="685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ru-RU" sz="4400" dirty="0">
                <a:solidFill>
                  <a:srgbClr val="FFFF00"/>
                </a:solidFill>
              </a:rPr>
              <a:t>Итоги и полезные советы</a:t>
            </a:r>
            <a:endParaRPr lang="en-US" sz="440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6276" y="1439704"/>
            <a:ext cx="6505575" cy="5363289"/>
          </a:xfrm>
          <a:prstGeom prst="roundRect">
            <a:avLst>
              <a:gd name="adj" fmla="val 19674"/>
            </a:avLst>
          </a:prstGeom>
          <a:solidFill>
            <a:srgbClr val="0A0E27"/>
          </a:solidFill>
        </p:spPr>
      </p:sp>
      <p:sp>
        <p:nvSpPr>
          <p:cNvPr id="5" name="Shape 3"/>
          <p:cNvSpPr/>
          <p:nvPr/>
        </p:nvSpPr>
        <p:spPr>
          <a:xfrm>
            <a:off x="925473" y="1711572"/>
            <a:ext cx="6011942" cy="4813767"/>
          </a:xfrm>
          <a:prstGeom prst="roundRect">
            <a:avLst>
              <a:gd name="adj" fmla="val 15076"/>
            </a:avLst>
          </a:prstGeom>
          <a:solidFill>
            <a:srgbClr val="183A13"/>
          </a:solidFill>
        </p:spPr>
        <p:txBody>
          <a:bodyPr/>
          <a:lstStyle/>
          <a:p>
            <a:endParaRPr lang="ru-RU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19" y="2014537"/>
            <a:ext cx="403717" cy="322881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7438549" y="1439704"/>
            <a:ext cx="6505575" cy="5369075"/>
          </a:xfrm>
          <a:prstGeom prst="roundRect">
            <a:avLst>
              <a:gd name="adj" fmla="val 19674"/>
            </a:avLst>
          </a:prstGeom>
          <a:solidFill>
            <a:srgbClr val="0A0E27"/>
          </a:solidFill>
        </p:spPr>
      </p:sp>
      <p:sp>
        <p:nvSpPr>
          <p:cNvPr id="7" name="Text 4"/>
          <p:cNvSpPr/>
          <p:nvPr/>
        </p:nvSpPr>
        <p:spPr>
          <a:xfrm>
            <a:off x="1951137" y="2014537"/>
            <a:ext cx="4962882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b="1" dirty="0">
                <a:solidFill>
                  <a:srgbClr val="00FFFF"/>
                </a:solidFill>
              </a:rPr>
              <a:t>итоги работы</a:t>
            </a:r>
            <a:endParaRPr lang="en-US" sz="1900" dirty="0">
              <a:solidFill>
                <a:srgbClr val="00FFFF"/>
              </a:solidFill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50002" y="2594965"/>
            <a:ext cx="5130411" cy="2646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ru-RU" dirty="0">
                <a:solidFill>
                  <a:srgbClr val="FFFF00"/>
                </a:solidFill>
              </a:rPr>
              <a:t>проблема успешно решена за 15 минут;</a:t>
            </a:r>
          </a:p>
          <a:p>
            <a:r>
              <a:rPr lang="ru-RU" dirty="0">
                <a:solidFill>
                  <a:schemeClr val="bg1"/>
                </a:solidFill>
              </a:rPr>
              <a:t>пользователь восстановлен в доступе к Госуслугам;</a:t>
            </a:r>
          </a:p>
          <a:p>
            <a:r>
              <a:rPr lang="ru-RU" dirty="0">
                <a:solidFill>
                  <a:schemeClr val="bg1"/>
                </a:solidFill>
              </a:rPr>
              <a:t>проведены базовые консультации по цифровой грамотности;</a:t>
            </a:r>
          </a:p>
          <a:p>
            <a:r>
              <a:rPr lang="ru-RU" dirty="0">
                <a:solidFill>
                  <a:srgbClr val="FFFF00"/>
                </a:solidFill>
              </a:rPr>
              <a:t>кейс задокументирован в журнале обращений (ID №1).</a:t>
            </a:r>
          </a:p>
        </p:txBody>
      </p:sp>
      <p:sp>
        <p:nvSpPr>
          <p:cNvPr id="10" name="Shape 7"/>
          <p:cNvSpPr/>
          <p:nvPr/>
        </p:nvSpPr>
        <p:spPr>
          <a:xfrm>
            <a:off x="7692985" y="1711572"/>
            <a:ext cx="6011942" cy="4813767"/>
          </a:xfrm>
          <a:prstGeom prst="roundRect">
            <a:avLst>
              <a:gd name="adj" fmla="val 15076"/>
            </a:avLst>
          </a:prstGeom>
          <a:solidFill>
            <a:srgbClr val="022349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217" y="2052570"/>
            <a:ext cx="308610" cy="2468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42045" y="2051175"/>
            <a:ext cx="4962882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b="1" dirty="0">
                <a:solidFill>
                  <a:srgbClr val="00FFFF"/>
                </a:solidFill>
              </a:rPr>
              <a:t>рекомендации для пользователей</a:t>
            </a:r>
            <a:endParaRPr lang="en-US" sz="1900" dirty="0">
              <a:solidFill>
                <a:srgbClr val="00FFFF"/>
              </a:solidFill>
              <a:latin typeface="+mj-lt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460522" y="2677920"/>
            <a:ext cx="4962882" cy="34991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ru-RU" b="1" dirty="0">
                <a:solidFill>
                  <a:srgbClr val="FBFB00"/>
                </a:solidFill>
              </a:rPr>
              <a:t>Для предотвращения подобных ситуаций:</a:t>
            </a:r>
            <a:endParaRPr lang="ru-RU" dirty="0">
              <a:solidFill>
                <a:srgbClr val="FBFB00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записывать пароли в защищённое приложение (менеджер паролей), а не на бумажку;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включить двухфакторную аутентификацию на всех важных сервисах.</a:t>
            </a:r>
          </a:p>
          <a:p>
            <a:r>
              <a:rPr lang="ru-RU" b="1" dirty="0">
                <a:solidFill>
                  <a:srgbClr val="FBFB00"/>
                </a:solidFill>
              </a:rPr>
              <a:t>При возникновении проблем:</a:t>
            </a:r>
            <a:endParaRPr lang="ru-RU" dirty="0">
              <a:solidFill>
                <a:srgbClr val="FBFB00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использовать только официальные каналы восстановления доступа;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не доверять звонкам с предложениями «помочь войти в Госуслуги»;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обращаться в Центр цифровой поддержки при затруднениях.</a:t>
            </a: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12523973" y="7707392"/>
            <a:ext cx="1991147" cy="4572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/>
      <p:bldP spid="8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2523973" y="7707392"/>
            <a:ext cx="1991147" cy="457200"/>
          </a:xfrm>
          <a:prstGeom prst="roundRect">
            <a:avLst/>
          </a:prstGeom>
          <a:solidFill>
            <a:srgbClr val="27272A"/>
          </a:solidFill>
          <a:ln>
            <a:solidFill>
              <a:srgbClr val="272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4630400" cy="8559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455</Words>
  <Application>Microsoft Office PowerPoint</Application>
  <PresentationFormat>Произвольный</PresentationFormat>
  <Paragraphs>86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user407</cp:lastModifiedBy>
  <cp:revision>47</cp:revision>
  <dcterms:created xsi:type="dcterms:W3CDTF">2026-04-22T17:31:00Z</dcterms:created>
  <dcterms:modified xsi:type="dcterms:W3CDTF">2026-06-01T11:21:41Z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1049-12.1.0.25242</vt:lpwstr>
  </property>
  <property fmtid="{D5CDD505-2E9C-101B-9397-08002B2CF9AE}" pid="3" name="ICV">
    <vt:lpwstr>A42A1181614943BDBA018CD2096E8574_13</vt:lpwstr>
  </property>
</Properties>
</file>